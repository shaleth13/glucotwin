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As eaten</c:v>
                </c:pt>
              </c:strCache>
            </c:strRef>
          </c:tx>
          <c:spPr>
            <a:solidFill>
              <a:srgbClr val="FF4D17"/>
            </a:solidFill>
            <a:ln w="38100" cap="flat">
              <a:solidFill>
                <a:srgbClr val="FF4D1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F4D17"/>
              </a:solidFill>
              <a:ln w="9525" cap="flat">
                <a:solidFill>
                  <a:srgbClr val="FF4D1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0</c:v>
                  </c:pt>
                  <c:pt idx="1">
                    <c:v>15</c:v>
                  </c:pt>
                  <c:pt idx="2">
                    <c:v>30</c:v>
                  </c:pt>
                  <c:pt idx="3">
                    <c:v>45</c:v>
                  </c:pt>
                  <c:pt idx="4">
                    <c:v>60</c:v>
                  </c:pt>
                  <c:pt idx="5">
                    <c:v>75</c:v>
                  </c:pt>
                  <c:pt idx="6">
                    <c:v>90</c:v>
                  </c:pt>
                  <c:pt idx="7">
                    <c:v>105</c:v>
                  </c:pt>
                  <c:pt idx="8">
                    <c:v>120</c:v>
                  </c:pt>
                  <c:pt idx="9">
                    <c:v>135</c:v>
                  </c:pt>
                  <c:pt idx="10">
                    <c:v>150</c:v>
                  </c:pt>
                  <c:pt idx="11">
                    <c:v>165</c:v>
                  </c:pt>
                  <c:pt idx="12">
                    <c:v>180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100</c:v>
                </c:pt>
                <c:pt idx="1">
                  <c:v>151.9</c:v>
                </c:pt>
                <c:pt idx="2">
                  <c:v>177.3</c:v>
                </c:pt>
                <c:pt idx="3">
                  <c:v>186.4</c:v>
                </c:pt>
                <c:pt idx="4">
                  <c:v>185.8</c:v>
                </c:pt>
                <c:pt idx="5">
                  <c:v>179.9</c:v>
                </c:pt>
                <c:pt idx="6">
                  <c:v>171.5</c:v>
                </c:pt>
                <c:pt idx="7">
                  <c:v>162.2</c:v>
                </c:pt>
                <c:pt idx="8">
                  <c:v>152.9</c:v>
                </c:pt>
                <c:pt idx="9">
                  <c:v>144.4</c:v>
                </c:pt>
                <c:pt idx="10">
                  <c:v>136.7</c:v>
                </c:pt>
                <c:pt idx="11">
                  <c:v>130.1</c:v>
                </c:pt>
                <c:pt idx="12">
                  <c:v>124.5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Twin's plan</c:v>
                </c:pt>
              </c:strCache>
            </c:strRef>
          </c:tx>
          <c:spPr>
            <a:solidFill>
              <a:srgbClr val="111111"/>
            </a:solidFill>
            <a:ln w="38100" cap="flat">
              <a:solidFill>
                <a:srgbClr val="11111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11111"/>
              </a:solidFill>
              <a:ln w="9525" cap="flat">
                <a:solidFill>
                  <a:srgbClr val="11111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0</c:v>
                  </c:pt>
                  <c:pt idx="1">
                    <c:v>15</c:v>
                  </c:pt>
                  <c:pt idx="2">
                    <c:v>30</c:v>
                  </c:pt>
                  <c:pt idx="3">
                    <c:v>45</c:v>
                  </c:pt>
                  <c:pt idx="4">
                    <c:v>60</c:v>
                  </c:pt>
                  <c:pt idx="5">
                    <c:v>75</c:v>
                  </c:pt>
                  <c:pt idx="6">
                    <c:v>90</c:v>
                  </c:pt>
                  <c:pt idx="7">
                    <c:v>105</c:v>
                  </c:pt>
                  <c:pt idx="8">
                    <c:v>120</c:v>
                  </c:pt>
                  <c:pt idx="9">
                    <c:v>135</c:v>
                  </c:pt>
                  <c:pt idx="10">
                    <c:v>150</c:v>
                  </c:pt>
                  <c:pt idx="11">
                    <c:v>165</c:v>
                  </c:pt>
                  <c:pt idx="12">
                    <c:v>180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100</c:v>
                </c:pt>
                <c:pt idx="1">
                  <c:v>127.7</c:v>
                </c:pt>
                <c:pt idx="2">
                  <c:v>140.3</c:v>
                </c:pt>
                <c:pt idx="3">
                  <c:v>144</c:v>
                </c:pt>
                <c:pt idx="4">
                  <c:v>142.7</c:v>
                </c:pt>
                <c:pt idx="5">
                  <c:v>138.9</c:v>
                </c:pt>
                <c:pt idx="6">
                  <c:v>134</c:v>
                </c:pt>
                <c:pt idx="7">
                  <c:v>128.8</c:v>
                </c:pt>
                <c:pt idx="8">
                  <c:v>124</c:v>
                </c:pt>
                <c:pt idx="9">
                  <c:v>119.7</c:v>
                </c:pt>
                <c:pt idx="10">
                  <c:v>115.9</c:v>
                </c:pt>
                <c:pt idx="11">
                  <c:v>112.7</c:v>
                </c:pt>
                <c:pt idx="12">
                  <c:v>110.1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Courier New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Courier New"/>
                  </a:rPr>
                  <a:t>Minutes after meal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74D"/>
                </a:solidFill>
                <a:latin typeface="Courier New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90"/>
        </c:scaling>
        <c:delete val="0"/>
        <c:axPos val="l"/>
        <c:majorGridlines>
          <c:spPr>
            <a:ln w="6350" cap="flat">
              <a:solidFill>
                <a:srgbClr val="CFC7B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Courier New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Courier New"/>
                  </a:rPr>
                  <a:t>Glucose (mg/dL)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74D"/>
                </a:solidFill>
                <a:latin typeface="Courier New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ourier New"/>
              <a:cs typeface="Courier New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4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4229100"/>
          </a:xfrm>
          <a:prstGeom prst="rect">
            <a:avLst/>
          </a:prstGeom>
          <a:solidFill>
            <a:srgbClr val="FF4D17"/>
          </a:solidFill>
          <a:ln w="381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6858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DIGITAL TWIN HACKATHON  /  HAPPIEST HEALTH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09728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2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Gluco</a:t>
            </a:r>
            <a:endParaRPr lang="en-US" sz="6200" dirty="0"/>
          </a:p>
          <a:p>
            <a:pPr indent="0" marL="0">
              <a:buNone/>
            </a:pPr>
            <a:r>
              <a:rPr lang="en-US" sz="62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Twin</a:t>
            </a:r>
            <a:endParaRPr lang="en-US" sz="6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24612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metabolic digital twin that predicts your glucose before you eat.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4069080"/>
            <a:ext cx="8229600" cy="6172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4069080"/>
            <a:ext cx="768096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ED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HACKZZ   /   IIT (BHU), VARANASI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D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229600" cy="3657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D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PROBLEM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diet does not fit all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4709160"/>
            <a:ext cx="8229600" cy="1828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HACKZZ  /  IIT (BHU), VARANASI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315200" y="47731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02/11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21208" y="1664208"/>
            <a:ext cx="2560320" cy="21031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00200"/>
            <a:ext cx="2560320" cy="2103120"/>
          </a:xfrm>
          <a:prstGeom prst="rect">
            <a:avLst/>
          </a:prstGeom>
          <a:solidFill>
            <a:srgbClr val="FFD9CC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1709928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100M+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2130552"/>
            <a:ext cx="223113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Indians live with diabetes, and a similar number with prediabetes.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10128" y="1664208"/>
            <a:ext cx="2560320" cy="21031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600200"/>
            <a:ext cx="2560320" cy="2103120"/>
          </a:xfrm>
          <a:prstGeom prst="rect">
            <a:avLst/>
          </a:prstGeom>
          <a:solidFill>
            <a:srgbClr val="FFFBF2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10712" y="1709928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UNIQUE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410712" y="2130552"/>
            <a:ext cx="223113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Glucose response shifts with sleep, stress, BMI, age and meal makeup.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99048" y="1664208"/>
            <a:ext cx="2560320" cy="21031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1600200"/>
            <a:ext cx="2560320" cy="2103120"/>
          </a:xfrm>
          <a:prstGeom prst="rect">
            <a:avLst/>
          </a:prstGeom>
          <a:solidFill>
            <a:srgbClr val="FFFBF2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99632" y="1709928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REACTIVE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199632" y="2130552"/>
            <a:ext cx="223113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CGMs are costly and show only what has already happened.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D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GAP: people need a safe way to test lifestyle choices before acting on them.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D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229600" cy="3657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D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WHY NOW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 digital twin, and why now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4709160"/>
            <a:ext cx="8229600" cy="1828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HACKZZ  /  IIT (BHU), VARANASI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315200" y="47731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03/11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21208" y="1618488"/>
            <a:ext cx="3977640" cy="13716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554480"/>
            <a:ext cx="3977640" cy="1371600"/>
          </a:xfrm>
          <a:prstGeom prst="rect">
            <a:avLst/>
          </a:prstGeom>
          <a:solidFill>
            <a:srgbClr val="FFFBF2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1664208"/>
            <a:ext cx="3648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Twin thinking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2084832"/>
            <a:ext cx="36484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persistent virtual copy of you for safe experiments.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73168" y="1618488"/>
            <a:ext cx="3977640" cy="13716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1554480"/>
            <a:ext cx="3977640" cy="1371600"/>
          </a:xfrm>
          <a:prstGeom prst="rect">
            <a:avLst/>
          </a:prstGeom>
          <a:solidFill>
            <a:srgbClr val="FFFBF2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73752" y="1664208"/>
            <a:ext cx="3648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Cheap sensing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873752" y="2084832"/>
            <a:ext cx="36484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Phones and watches already track sleep, steps and stress.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21208" y="3172968"/>
            <a:ext cx="3977640" cy="13716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108960"/>
            <a:ext cx="3977640" cy="1371600"/>
          </a:xfrm>
          <a:prstGeom prst="rect">
            <a:avLst/>
          </a:prstGeom>
          <a:solidFill>
            <a:srgbClr val="FFFBF2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1792" y="3218688"/>
            <a:ext cx="3648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Mature AI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" y="3639312"/>
            <a:ext cx="36484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Small ML models predict individual responses, even in a browser.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73168" y="3172968"/>
            <a:ext cx="3977640" cy="13716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9160" y="3108960"/>
            <a:ext cx="3977640" cy="1371600"/>
          </a:xfrm>
          <a:prstGeom prst="rect">
            <a:avLst/>
          </a:prstGeom>
          <a:solidFill>
            <a:srgbClr val="FFFBF2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73752" y="3218688"/>
            <a:ext cx="3648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Prevention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873752" y="3639312"/>
            <a:ext cx="36484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Catching prediabetes early costs far less than treating diabetes.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D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229600" cy="3657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D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SOLUTION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virtual you for what-if meals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4709160"/>
            <a:ext cx="8229600" cy="1828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HACKZZ  /  IIT (BHU), VARANASI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315200" y="47731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04/11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645920"/>
            <a:ext cx="82296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9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 your profile: age, BMI, fasting glucose, sleep, stress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9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Describe a meal: carbs, protein, fat, fiber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9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twin predicts your 3-hour glucose curve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9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tests a better plan: fewer carbs, more fiber, a 15-minute walk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9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see both curves and the predicted peak drop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D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229600" cy="3657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D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ARCHITECTURE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4709160"/>
            <a:ext cx="8229600" cy="1828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HACKZZ  /  IIT (BHU), VARANASI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315200" y="47731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05/11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21208" y="1892808"/>
            <a:ext cx="1463040" cy="15544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28800"/>
            <a:ext cx="1463040" cy="1554480"/>
          </a:xfrm>
          <a:prstGeom prst="rect">
            <a:avLst/>
          </a:prstGeom>
          <a:solidFill>
            <a:srgbClr val="FFFBF2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1938528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2359152"/>
            <a:ext cx="11338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Profile, meal, activity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194560" y="1892808"/>
            <a:ext cx="1463040" cy="15544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30552" y="1828800"/>
            <a:ext cx="1463040" cy="1554480"/>
          </a:xfrm>
          <a:prstGeom prst="rect">
            <a:avLst/>
          </a:prstGeom>
          <a:solidFill>
            <a:srgbClr val="FFFBF2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295144" y="1938528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295144" y="2359152"/>
            <a:ext cx="11338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model features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867912" y="1892808"/>
            <a:ext cx="1463040" cy="15544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03904" y="1828800"/>
            <a:ext cx="1463040" cy="1554480"/>
          </a:xfrm>
          <a:prstGeom prst="rect">
            <a:avLst/>
          </a:prstGeom>
          <a:solidFill>
            <a:srgbClr val="FFD9CC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968496" y="1938528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MODEL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968496" y="2359152"/>
            <a:ext cx="11338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Gradient Boosting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541264" y="1892808"/>
            <a:ext cx="1463040" cy="15544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77256" y="1828800"/>
            <a:ext cx="1463040" cy="1554480"/>
          </a:xfrm>
          <a:prstGeom prst="rect">
            <a:avLst/>
          </a:prstGeom>
          <a:solidFill>
            <a:srgbClr val="FFD9CC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641848" y="1938528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TWIN ENGINE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641848" y="2359152"/>
            <a:ext cx="11338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Curve + what-if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214616" y="1892808"/>
            <a:ext cx="1463040" cy="15544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50608" y="1828800"/>
            <a:ext cx="1463040" cy="1554480"/>
          </a:xfrm>
          <a:prstGeom prst="rect">
            <a:avLst/>
          </a:prstGeom>
          <a:solidFill>
            <a:srgbClr val="FFFBF2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0" y="1938528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0" y="2359152"/>
            <a:ext cx="11338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+ web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DIAGRAM: docs/architecture.pdf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D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229600" cy="3657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D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AI / ML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details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4709160"/>
            <a:ext cx="8229600" cy="1828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HACKZZ  /  IIT (BHU), VARANASI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315200" y="47731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06/11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21208" y="1618488"/>
            <a:ext cx="3977640" cy="29260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554480"/>
            <a:ext cx="3977640" cy="2926080"/>
          </a:xfrm>
          <a:prstGeom prst="rect">
            <a:avLst/>
          </a:prstGeom>
          <a:solidFill>
            <a:srgbClr val="FFFBF2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1664208"/>
            <a:ext cx="3648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2084832"/>
            <a:ext cx="3648456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Gradient Boosting Regressor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 trees, depth 3, lr 0.08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peak glucose rise above fasting (mg/dL)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g(t) = base + rise x (t/tp) x e^(1-t/tp); tp shifts with fat, protein, walking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73168" y="1618488"/>
            <a:ext cx="3977640" cy="13258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1554480"/>
            <a:ext cx="3977640" cy="1325880"/>
          </a:xfrm>
          <a:prstGeom prst="rect">
            <a:avLst/>
          </a:prstGeom>
          <a:solidFill>
            <a:srgbClr val="FFFBF2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73752" y="1664208"/>
            <a:ext cx="3648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Inputs (10)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873752" y="2084832"/>
            <a:ext cx="364845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Carbs, protein, fat, fiber, sleep, stress, age, BMI, fasting glucose, walk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73168" y="3218688"/>
            <a:ext cx="1874520" cy="13258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3154680"/>
            <a:ext cx="1874520" cy="1325880"/>
          </a:xfrm>
          <a:prstGeom prst="rect">
            <a:avLst/>
          </a:prstGeom>
          <a:solidFill>
            <a:srgbClr val="FFD9CC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73752" y="3264408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873752" y="3685032"/>
            <a:ext cx="154533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4.8 mg/dL (synthetic test set)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876288" y="3218688"/>
            <a:ext cx="1874520" cy="13258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12280" y="3154680"/>
            <a:ext cx="1874520" cy="1325880"/>
          </a:xfrm>
          <a:prstGeom prst="rect">
            <a:avLst/>
          </a:prstGeom>
          <a:solidFill>
            <a:srgbClr val="FFD9CC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76872" y="3264408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R2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976872" y="3685032"/>
            <a:ext cx="154533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0.97 on 20% hold-out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D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229600" cy="3657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D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DEMO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eaten vs the twin's plan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4709160"/>
            <a:ext cx="8229600" cy="1828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HACKZZ  /  IIT (BHU), VARANASI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315200" y="47731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07/11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1463040"/>
          <a:ext cx="822960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D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229600" cy="3657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D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IMPACT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Outcomes and impact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4709160"/>
            <a:ext cx="8229600" cy="1828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HACKZZ  /  IIT (BHU), VARANASI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315200" y="47731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08/11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21208" y="1709928"/>
            <a:ext cx="2651760" cy="27432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45920"/>
            <a:ext cx="2651760" cy="2743200"/>
          </a:xfrm>
          <a:prstGeom prst="rect">
            <a:avLst/>
          </a:prstGeom>
          <a:solidFill>
            <a:srgbClr val="FFFBF2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175564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2176272"/>
            <a:ext cx="2322576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 personal glucose triggers without needles or costly hardware.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10128" y="1709928"/>
            <a:ext cx="2651760" cy="27432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645920"/>
            <a:ext cx="2651760" cy="2743200"/>
          </a:xfrm>
          <a:prstGeom prst="rect">
            <a:avLst/>
          </a:prstGeom>
          <a:solidFill>
            <a:srgbClr val="FFD9CC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10712" y="175564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Coaches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410712" y="2176272"/>
            <a:ext cx="2322576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diet plans per client and explain them with curves.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99048" y="1709928"/>
            <a:ext cx="2651760" cy="27432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1645920"/>
            <a:ext cx="2651760" cy="2743200"/>
          </a:xfrm>
          <a:prstGeom prst="rect">
            <a:avLst/>
          </a:prstGeom>
          <a:solidFill>
            <a:srgbClr val="FFFBF2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99632" y="175564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 systems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199632" y="2176272"/>
            <a:ext cx="2322576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Earlier, cheaper prevention that scales through a simple API.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D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229600" cy="3657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D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ETHICS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Privacy and limitations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4709160"/>
            <a:ext cx="8229600" cy="1828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HACKZZ  /  IIT (BHU), VARANASI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315200" y="47731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09/11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6459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■"/>
            </a:pPr>
            <a:r>
              <a:rPr lang="en-US" sz="19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Trained on synthetic data: a proof of concept, not a clinical tool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■"/>
            </a:pPr>
            <a:r>
              <a:rPr lang="en-US" sz="19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medical advice; people with diabetes should follow their doctor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■"/>
            </a:pPr>
            <a:r>
              <a:rPr lang="en-US" sz="19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prototype collects and stores no personal health data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■"/>
            </a:pPr>
            <a:r>
              <a:rPr lang="en-US" sz="19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Next: validate with consented, anonymised real CGM data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D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229600" cy="3657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D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ROADMAP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comes next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4709160"/>
            <a:ext cx="8229600" cy="1828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HACKZZ  /  IIT (BHU), VARANASI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315200" y="47731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10/11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411480" cy="411480"/>
          </a:xfrm>
          <a:prstGeom prst="rect">
            <a:avLst/>
          </a:prstGeom>
          <a:solidFill>
            <a:srgbClr val="FF4D17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160020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Calibrate with real CGM data; learn per user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57200" y="2148840"/>
            <a:ext cx="411480" cy="411480"/>
          </a:xfrm>
          <a:prstGeom prst="rect">
            <a:avLst/>
          </a:prstGeom>
          <a:solidFill>
            <a:srgbClr val="111111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148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ED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214884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Wearable sync: Fitbit, Apple Health, Google Fit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57200" y="2697480"/>
            <a:ext cx="411480" cy="411480"/>
          </a:xfrm>
          <a:prstGeom prst="rect">
            <a:avLst/>
          </a:prstGeom>
          <a:solidFill>
            <a:srgbClr val="FF4D17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2697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269748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Indian food database: idli, dosa, roti, dal, rice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57200" y="3246120"/>
            <a:ext cx="411480" cy="411480"/>
          </a:xfrm>
          <a:prstGeom prst="rect">
            <a:avLst/>
          </a:prstGeom>
          <a:solidFill>
            <a:srgbClr val="111111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ED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324612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Multilingual AI coach: English, Hindi, Kannada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57200" y="3794760"/>
            <a:ext cx="411480" cy="411480"/>
          </a:xfrm>
          <a:prstGeom prst="rect">
            <a:avLst/>
          </a:prstGeom>
          <a:solidFill>
            <a:srgbClr val="FF4D17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3794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79476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Federated learning to keep data on the device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0584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4D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688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3ED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HACKZZ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3ED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IIT (BHU), VARANASI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GlucoTwin - Team Hackzz</dc:title>
  <dc:subject>PptxGenJS Presentation</dc:subject>
  <dc:creator>PptxGenJS</dc:creator>
  <cp:lastModifiedBy>PptxGenJS</cp:lastModifiedBy>
  <cp:revision>1</cp:revision>
  <dcterms:created xsi:type="dcterms:W3CDTF">2026-10-20T10:08:21Z</dcterms:created>
  <dcterms:modified xsi:type="dcterms:W3CDTF">2026-10-20T10:08:22Z</dcterms:modified>
</cp:coreProperties>
</file>